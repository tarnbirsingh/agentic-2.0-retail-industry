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657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54864" cy="310896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TradeBridge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8F0"/>
                </a:solidFill>
              </a:rPr>
              <a:t>Autonome B2B-Verhandlungen mit KI-Agenten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A8CC"/>
                </a:solidFill>
              </a:rPr>
              <a:t>Bachelorarbeit  ·  DHBW Mannheim / SAP 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988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8AA"/>
                </a:solidFill>
              </a:rPr>
              <a:t>Tarnbir Singh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349240"/>
            <a:ext cx="2057400" cy="256032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376672"/>
            <a:ext cx="1947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C8F0"/>
                </a:solidFill>
              </a:rPr>
              <a:t>01  Idee &amp;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349240"/>
            <a:ext cx="2057400" cy="256032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5376672"/>
            <a:ext cx="1947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C8F0"/>
                </a:solidFill>
              </a:rPr>
              <a:t>02  Architektur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5349240"/>
            <a:ext cx="2057400" cy="256032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5376672"/>
            <a:ext cx="1947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C8F0"/>
                </a:solidFill>
              </a:rPr>
              <a:t>03  KPIs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5349240"/>
            <a:ext cx="2057400" cy="256032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2" y="5376672"/>
            <a:ext cx="1947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C8F0"/>
                </a:solidFill>
              </a:rPr>
              <a:t>04  Ergebnisse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38360" y="5349240"/>
            <a:ext cx="2057400" cy="256032"/>
          </a:xfrm>
          <a:prstGeom prst="rect">
            <a:avLst/>
          </a:prstGeom>
          <a:solidFill>
            <a:srgbClr val="00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5376672"/>
            <a:ext cx="1947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C8F0"/>
                </a:solidFill>
              </a:rPr>
              <a:t>05  Live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SAP SE — Interner Vortrag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Die Ausgangslage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Tail-Spend-Verhandlungen im Core Retail — manuell, langsam, teuer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03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D7A"/>
                </a:solidFill>
              </a:rPr>
              <a:t>Manueller Aufwand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55566"/>
                </a:solidFill>
              </a:defRPr>
            </a:pPr>
            <a:r>
              <a:t>Einkäufer verhandeln Standardartikel mit geringem Wert manuell — hoher Zeitaufwand, niedriger strategischer ROI.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25880"/>
            <a:ext cx="3703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57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D7A"/>
                </a:solidFill>
              </a:rPr>
              <a:t>Inkonsistente Ergebnisse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55566"/>
                </a:solidFill>
              </a:defRPr>
            </a:pPr>
            <a:r>
              <a:t>Ohne formalisierte Strategie variieren Einigungspreise stark — je nach Erfahrung und Tagesform des Einkäufers.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3703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057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D7A"/>
                </a:solidFill>
              </a:rPr>
              <a:t>Keine Skalierbarkeit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514600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55566"/>
                </a:solidFill>
              </a:defRPr>
            </a:pPr>
            <a:r>
              <a:t>Steigendes Sortimentsvolumen lässt sich nicht mit wachsendem Personal lösen — Automatisierung ist notwendig.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34840"/>
            <a:ext cx="11548872" cy="1234440"/>
          </a:xfrm>
          <a:prstGeom prst="rect">
            <a:avLst/>
          </a:prstGeom>
          <a:solidFill>
            <a:srgbClr val="D6EAF8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D2"/>
                </a:solidFill>
              </a:rPr>
              <a:t>Forschungsfrage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64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D7A"/>
                </a:solidFill>
              </a:rPr>
              <a:t>"Inwiefern laesst sich der Verhandlungsprozess zwischen Lieferant und Haendler im Core Retail durch ein LLM-basiertes Multi-Agenten-System innerhalb vordefinierter Preis- und Mengenparameter automatisieren?"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Die Idee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Zwei KI-Agenten verhandeln autonom — innerhalb menschlich definierter Grenzen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2560320" cy="2743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060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Supplier
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29184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4F0"/>
                </a:solidFill>
              </a:rPr>
              <a:t>Setzt Mindestpreis
&amp; Strategie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8888" y="1554480"/>
            <a:ext cx="2560320" cy="329184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1737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7" y="23317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Orchestrator
&amp; ZOPA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301752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4F0"/>
                </a:solidFill>
              </a:rPr>
              <a:t>Verhandlungslogik
Constraint-Check
HITL-Eskalation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8592" y="1828800"/>
            <a:ext cx="2560320" cy="2743200"/>
          </a:xfrm>
          <a:prstGeom prst="rect">
            <a:avLst/>
          </a:prstGeom>
          <a:solidFill>
            <a:srgbClr val="1E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0152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6060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Retailer
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3291840"/>
            <a:ext cx="2377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4F0"/>
                </a:solidFill>
              </a:rPr>
              <a:t>Setzt Max-Preis
&amp; Taktik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66"/>
                </a:solidFill>
              </a:rPr>
              <a:t>⟵  Angebote  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346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66"/>
                </a:solidFill>
              </a:rPr>
              <a:t>⟵  Angebote  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0060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🔐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48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Preisuntergrenze und Mengenkonstraints sind unveränderlich — der Agent kann sie nie unterschreiten.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80060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🧠 LLM-Strategie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48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Claude Sonnet entscheidet Taktik, Konzessionsgröße und Begründung — Runde für Runde.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57784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👤 HITL-Eskalation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25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Menschlicher Eingriff nur bei Stagnation oder Grenzfällen — alles andere läuft autonom.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57784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📊 Transparenz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925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Jede Runde wird mit Reasoning, raw_offer und Taktikklassifikation persistiert.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Systemarchitektur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Modularer Aufbau — jede Komponente hat eine klar abgegrenzte Verantwortung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73152" cy="6858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0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D7A"/>
                </a:solidFill>
              </a:rPr>
              <a:t>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9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REST-API, Session-Management, ZOPA-Berechnung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95144"/>
            <a:ext cx="73152" cy="6858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95144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50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D2"/>
                </a:solidFill>
              </a:rPr>
              <a:t>LLM-Pipeline (4 Stufen)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919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Tactic → Aspiration → Risk → Offer — sequenziell, prompt-konfiguriert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64408"/>
            <a:ext cx="73152" cy="685800"/>
          </a:xfrm>
          <a:prstGeom prst="rect">
            <a:avLst/>
          </a:prstGeom>
          <a:solidFill>
            <a:srgbClr val="1E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64408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19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4A"/>
                </a:solidFill>
              </a:rPr>
              <a:t>Constraint Validator +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484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Validierung auf raw_offer; max. 3 Re-Prompts vor Clamping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33672"/>
            <a:ext cx="73152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33672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2885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</a:rPr>
              <a:t>Opponent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Boulware/Conceder-Klassifikation nach Faratin et al. (1998)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02936"/>
            <a:ext cx="73152" cy="685800"/>
          </a:xfrm>
          <a:prstGeom prst="rect">
            <a:avLst/>
          </a:prstGeom>
          <a:solidFill>
            <a:srgbClr val="8C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02936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257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4A00"/>
                </a:solidFill>
              </a:rPr>
              <a:t>Evaluationsmodul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869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CSR / WAA / ZU / BP — automatisiert über 140 Sitzungen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25880"/>
            <a:ext cx="57607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D2"/>
                </a:solidFill>
              </a:rPr>
              <a:t>Tech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874519"/>
            <a:ext cx="1371600" cy="56692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200253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002536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Claude Sonnet 4.x  ·  Temperature =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24327"/>
            <a:ext cx="1371600" cy="56692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275234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2752344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Python 3.13  ·  FastAPI  ·  Pydantic v2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374135"/>
            <a:ext cx="1371600" cy="56692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50215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502151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React 19  ·  TypeScript  ·  Tailwind 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123944"/>
            <a:ext cx="1371600" cy="56692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Protokoll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251959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A2A (Agent-to-Agent)  ·  REST-basiert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873752"/>
            <a:ext cx="1371600" cy="56692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0017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500176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140 Sitzungen  ·  14 Szenarien  ·  10 Läufe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623559"/>
            <a:ext cx="1371600" cy="56692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5751575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Persistenz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5751575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JSON-Session-Store  ·  raw_offer-Feld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Evaluation — vier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Hybrides Design: quantitativ automatisiert + qualitativ Human-as-a-Judge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822960" cy="21945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2039112"/>
            <a:ext cx="713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9903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A"/>
                </a:solidFill>
              </a:rPr>
              <a:t>Constraint Satisfaction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013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Hält der Agent Preis- und Mengenlimits aus eigener Kraft ein?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4028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Gemessen auf raw_offer — erstem LLM-Output vor Korrektur.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807208"/>
            <a:ext cx="43891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2898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A"/>
                </a:solidFill>
              </a:rPr>
              <a:t>Kriterium:  ≥ 95 %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669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822960" cy="219456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3" y="2039112"/>
            <a:ext cx="713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WAA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139903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D2"/>
                </a:solidFill>
              </a:rPr>
              <a:t>Walk-Away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80136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Trifft der Agent die richtige Deal-/Abbruch-Entscheidung?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24028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F₁ auf ZOPA/No-ZOPA-Klassifikation. FAR = 0 ist hartes Kriterium.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807208"/>
            <a:ext cx="43891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2898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A"/>
                </a:solidFill>
              </a:rPr>
              <a:t>Kriterium:  F₁ ≥ 0,90
FAR = 0,0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5669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03320"/>
            <a:ext cx="822960" cy="2194560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4416552"/>
            <a:ext cx="713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ZU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77647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6"/>
                </a:solidFill>
              </a:rPr>
              <a:t>ZOPA 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7880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 landet die Einigung im Verhandlungskorridor?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0 = Supplier-Maximum, 1 = Supplier-Minimum. Diagnostisch, kein SW.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5184648"/>
            <a:ext cx="43891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19" y="52760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A"/>
                </a:solidFill>
              </a:rPr>
              <a:t>Kriterium:  Diagnostisch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03320"/>
            <a:ext cx="5669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03320"/>
            <a:ext cx="822960" cy="21945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3" y="4416552"/>
            <a:ext cx="713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377647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</a:rPr>
              <a:t>Business Plausibility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4178808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Klingt das nach echter B2B-Verhandlung?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59" y="46177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Retail-Experte bewertet Argumentationsqualität, Konzessionslogik, Reaktionsadäquatheit.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59" y="5184648"/>
            <a:ext cx="4389120" cy="5029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52760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D7A"/>
                </a:solidFill>
              </a:rPr>
              <a:t>Kriterium:  Human-as-a-Judge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Ergebnisse —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140 Sitzungen · 14 Szenarien · 10 Läufe · Claude Sonnet · Temperature = 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834640" cy="2331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834640" cy="54864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B8D8"/>
                </a:solidFill>
              </a:rPr>
              <a:t>CSR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26151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6"/>
                </a:solidFill>
              </a:rPr>
              <a:t>98,4 %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450592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A0C0"/>
                </a:solidFill>
              </a:rPr>
              <a:t>± 1,6 %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74320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90B0"/>
                </a:solidFill>
              </a:rPr>
              <a:t>Kriterium ≥ 95 %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01752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6"/>
                </a:solidFill>
              </a:rPr>
              <a:t>✓ erfüllt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834640" cy="2331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834640" cy="5486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17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B8D8"/>
                </a:solidFill>
              </a:rPr>
              <a:t>WAA  F₁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764792"/>
            <a:ext cx="26151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6"/>
                </a:solidFill>
              </a:rPr>
              <a:t>0,933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74320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90B0"/>
                </a:solidFill>
              </a:rPr>
              <a:t>Kriterium ≥ 0,90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01752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6"/>
                </a:solidFill>
              </a:rPr>
              <a:t>✓ erfüllt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325880"/>
            <a:ext cx="2834640" cy="2331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325880"/>
            <a:ext cx="2834640" cy="54864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B8D8"/>
                </a:solidFill>
              </a:rPr>
              <a:t>WAA  FAR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764792"/>
            <a:ext cx="26151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6"/>
                </a:solidFill>
              </a:rPr>
              <a:t>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74320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90B0"/>
                </a:solidFill>
              </a:rPr>
              <a:t>Hartes Kriterium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01752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6"/>
                </a:solidFill>
              </a:rPr>
              <a:t>✓ erfüllt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325880"/>
            <a:ext cx="2834640" cy="2331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325880"/>
            <a:ext cx="283464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1417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B8D8"/>
                </a:solidFill>
              </a:rPr>
              <a:t>BP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1764792"/>
            <a:ext cx="26151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6"/>
                </a:solidFill>
              </a:rPr>
              <a:t>8 /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7" y="2450592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A0C0"/>
                </a:solidFill>
              </a:rPr>
              <a:t>überwiegend / hoch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7" y="274320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90B0"/>
                </a:solidFill>
              </a:rPr>
              <a:t>Human-as-a-Judge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301752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6"/>
                </a:solidFill>
              </a:rPr>
              <a:t>✓ positiv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40480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319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46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9776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Null BATNA-Verletzungen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0740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6"/>
                </a:solidFill>
              </a:defRPr>
            </a:pPr>
            <a:r>
              <a:t>In keiner einzigen der 140 Sitzungen schließt das System einen Deal, der den</a:t>
            </a:r>
            <a:br/>
            <a:r>
              <a:t>Reservationspreis des Agenten unterschreitet. FAR = 0,0 über alle Läufe.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3840480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E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39319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7E0F"/>
                </a:solidFill>
              </a:rPr>
              <a:t>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39776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Narrow-ZOPA bleibt herausfordernd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440740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6"/>
                </a:solidFill>
              </a:defRPr>
            </a:pPr>
            <a:r>
              <a:t>10 verlorene Deals (FN) trotz vorhandener ZOPA — alle in engen Preisfenstern</a:t>
            </a:r>
            <a:br/>
            <a:r>
              <a:t>(S04–S06). 1× autonomer Walk-Away obwohl ZOPA vorhanden (S06, Lauf 8).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0456" y="3840480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39319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D2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69096" y="397763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Volume-Leverage funktioniert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4407408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55566"/>
                </a:solidFill>
              </a:defRPr>
            </a:pPr>
            <a:r>
              <a:t>In allen 10 Läufen setzt der Retailer-Agent den Mengenhebel korrekt ein (S13).</a:t>
            </a:r>
            <a:br/>
            <a:r>
              <a:t>ZU = 0,618 — einziges Szenario mit Händler-Dominanz.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Walk-Away Accuracy —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Positive Klasse: Deal bei vorhandener ZOPA  ·  N = 120 klassifizierte Sitzungen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D2"/>
                </a:solidFill>
              </a:rPr>
              <a:t>Aggregierte Konfusionsmatrix (10 Läufe, S11/S12 ausgeschlossen)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ZOPA vorhanden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D7A"/>
                </a:solidFill>
              </a:rPr>
              <a:t>Keine ZOPA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3D7A"/>
                </a:solidFill>
              </a:rPr>
              <a:t>Deal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175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3D7A"/>
                </a:solidFill>
              </a:rPr>
              <a:t>Abbruch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194560"/>
            <a:ext cx="1783080" cy="621792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22677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TP = 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596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Korrekte Deals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194560"/>
            <a:ext cx="1783080" cy="621792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2" y="22677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FP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2596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0 BATNA-Fehler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926080"/>
            <a:ext cx="1783080" cy="621792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FN =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33284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Verlorene Deals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2926080"/>
            <a:ext cx="1783080" cy="621792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TN =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2" y="33284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Korrekte Abbrüche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63440"/>
            <a:ext cx="5669280" cy="15087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73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D7A"/>
                </a:solidFill>
              </a:rPr>
              <a:t>Precision = 1,000   ·   Recall = 0,875   ·   F₁ = 0,933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389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D7A"/>
                </a:solidFill>
              </a:rPr>
              <a:t>FAR = 0,000 (= FP / (FP+TN))   ·   FWR = 0,125 (= FN / (FN+TP))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66"/>
                </a:solidFill>
              </a:rPr>
              <a:t>FAR = 0 bedeutet: keine einzige BATNA-Verletzung in 140 Sitzungen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325880"/>
            <a:ext cx="5623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389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D2"/>
                </a:solidFill>
              </a:rPr>
              <a:t>FN-Analyse — 10 verlorene Deals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874519"/>
            <a:ext cx="411480" cy="566928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9659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192023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S04  Makita Schlagbohrer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1945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Narrow ZOPA €6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79191"/>
            <a:ext cx="41148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7706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724911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S05  Bosch X-LOCK Scheiben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999232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Narrow ZOPA €1,5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483863"/>
            <a:ext cx="41148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575303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529583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S06  GARDENA Water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803903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Narrow ZOPA €5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288536"/>
            <a:ext cx="41148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379975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334255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S06  Lauf 8 — Sonderfall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608575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Autonomer Walk-Away (failed)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093208"/>
            <a:ext cx="411480" cy="566928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184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138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S13  Kärcher Schaum-Set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4132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Volume Leverage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60533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Alle 10 FN-Fälle: Verhandlung korrekt abgebrochen, aber Einigung wäre möglich gewesen.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ZU &amp; Business Plausibility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Einigungsposition im Korridor + qualitative Verhandlungsbeurteilung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7607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D2"/>
                </a:solidFill>
              </a:rPr>
              <a:t>ZOPA Utilization — Ø 0,303 ± 0,043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67,5 % lieferantendominant  ·  16,9 % ausgeglichen  ·  15,7 % händlerdominant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S01–S03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258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Wide ZOPA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258568"/>
            <a:ext cx="758220" cy="292608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1340" y="227685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0.230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08375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S04–S06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008375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Narrow ZOPA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008375"/>
            <a:ext cx="617768" cy="292608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0888" y="3026663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0.188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58183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S11–S12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58183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Asymmetrisch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758183"/>
            <a:ext cx="941466" cy="292608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586" y="37764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0.286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0799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5079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Volume Leverage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507992"/>
            <a:ext cx="2034357" cy="29260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7477" y="452628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0.618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7557" y="45262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D2"/>
                </a:solidFill>
              </a:rPr>
              <a:t>← Hebel wirkt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57799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25779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66"/>
                </a:solidFill>
              </a:rPr>
              <a:t>Volume Leverage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5257799"/>
            <a:ext cx="1701881" cy="292608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5001" y="52760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0.517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715000"/>
            <a:ext cx="5760720" cy="7772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88152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3D7A"/>
                </a:solidFill>
              </a:rPr>
              <a:t>Systematischer Supplier-Bias durch Ankerstrategie im Prompt-Design — korrigierbar durch
Anpassung des `initial_anchor`-Parameters in der Agentenpersönlichkeit.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325880"/>
            <a:ext cx="557784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389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D2"/>
                </a:solidFill>
              </a:rPr>
              <a:t>Business Plausibility — Einstufungen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874519"/>
            <a:ext cx="731520" cy="822960"/>
          </a:xfrm>
          <a:prstGeom prst="rect">
            <a:avLst/>
          </a:prstGeom>
          <a:solidFill>
            <a:srgbClr val="1A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0391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192938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Hoch plausibel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3134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S13 — Volume Leverage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971800"/>
            <a:ext cx="731520" cy="82296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136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0266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Überwiegend plausibel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4107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S01–S04, S12, S14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069079"/>
            <a:ext cx="731520" cy="82296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23367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123943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Eingeschränkt plausibel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5079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S05–S11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166359"/>
            <a:ext cx="731520" cy="82296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33095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55566"/>
                </a:solidFill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221223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Nicht plausibel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60527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5715000"/>
            <a:ext cx="5577840" cy="7772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788152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3D7A"/>
                </a:solidFill>
              </a:rPr>
              <a:t>Kein Szenario als 'nicht plausibel' eingestuft. Hauptschwäche:
fehlende Walk-Away-Kommunikation in No-ZOPA-Szenarien (S07–S10).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509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C8F0"/>
                </a:solidFill>
              </a:rPr>
              <a:t>TradeBridge 2.0 — End-to-End Verhandlung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058400" cy="22860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101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300"/>
                </a:solidFill>
              </a:rPr>
              <a:t>Demo-Ablauf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9692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1.  Supplier-Dashboard → Produkt auswählen → Proaktives Angebot mit privaten Limits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2.  Retailer-Dashboard → Angebot im Posteingang → Eigene Max-Grenze setzen → Auto-Verhandlung starten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3.  Live: KI-Agenten verhandeln Runde für Runde mit Taktik &amp; Begründung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4.  HITL-Eskalation oder Deal-Bestätigung durch beide Parteien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98B8"/>
                </a:solidFill>
              </a:rPr>
              <a:t>localhost:5173  ·  Backend: localhost:8002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Zusammenfassung &amp; 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F0"/>
                </a:solidFill>
              </a:rPr>
              <a:t>Was wurde gezeigt — und was kommt als nächstes?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440680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6"/>
                </a:solidFill>
              </a:rPr>
              <a:t>✓  Erreicht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Alle 3 quantitativen Erfolgskriterien erfüllt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CSR 98,4 % — Guardrails hochzuverlässig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FAR = 0,0 — null BATNA-Verletzungen in 140 Sitzungen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F₁ = 0,933 — ausgewogene Walk-Away-Entscheidung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Volume-Leverage in 10/10 Läufen korrekt eingesetzt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Kommunikativ plausibles Verhalten in 8/14 Szenarien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1A2E"/>
                </a:solidFill>
              </a:rPr>
              <a:t>  ·  End-to-End-System: Frontend → API → LLM-Agenten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5879592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E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F"/>
                </a:solidFill>
              </a:rPr>
              <a:t>⚠  Bekannte Grenzen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·  Narrow ZOPA: 20–40 % Fehlquote (Anker-Varianz)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·  Keine aktive Walk-Away-Kommunikation implementiert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·  Preis-Text-Diskrepanz: 30,9 % der Runden betroffen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·  S11: kein Dimension-Shift bei Nicht-Preis-Konflikten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3840480"/>
            <a:ext cx="5879592" cy="2560320"/>
          </a:xfrm>
          <a:prstGeom prst="rect">
            <a:avLst/>
          </a:prstGeom>
          <a:solidFill>
            <a:srgbClr val="D6EAF8"/>
          </a:solidFill>
          <a:ln w="254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D2"/>
                </a:solidFill>
              </a:rPr>
              <a:t>→  Nächste Schritte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34340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1.  Aktive Abbruchkommunikation (Walk-Away-Signal)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2.  Regelbasierter Ankerpreis für enge ZOPAs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3.  Domänenspezifische Prompt-Erweiterung (Saisonalität, Margen)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4.  Preis-Text-Konsistenzprüfung im Pipeline-Design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  5.  Produktive Integration in SAP Ariba / S/4HANA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01568"/>
            <a:ext cx="12188952" cy="36576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Danke!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8F0"/>
                </a:solidFill>
              </a:rPr>
              <a:t>Fragen &amp; Diskussion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Tarnbir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8CC"/>
                </a:solidFill>
              </a:rPr>
              <a:t>DHBW Mannheim  ·  SAP SE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88AA"/>
                </a:solidFill>
              </a:rPr>
              <a:t>GitHub / Code:  Agentic-2.0-Retail-Industry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789A"/>
                </a:solidFill>
              </a:rPr>
              <a:t>Backend:  localhost:8002  ·  Frontend:  localhost:5173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B8D8"/>
                </a:solidFill>
              </a:rPr>
              <a:t>TradeBridge 2.0  ·  Tarnbir Singh  ·  DHBW Mannheim / SAP SE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0" y="6574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98B8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