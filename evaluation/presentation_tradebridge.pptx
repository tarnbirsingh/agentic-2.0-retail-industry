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28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C55FDD-0FB7-3C46-A000-F781C51C65A6}" type="datetimeFigureOut">
              <a:rPr lang="en-DE" smtClean="0"/>
              <a:t>27.04.26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8180F8-E609-7548-AA6D-80A8FE29505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90523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8180F8-E609-7548-AA6D-80A8FE29505D}" type="slidenum">
              <a:rPr lang="en-DE" smtClean="0"/>
              <a:t>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13150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54864"/>
          </a:xfrm>
          <a:prstGeom prst="rect">
            <a:avLst/>
          </a:prstGeom>
          <a:solidFill>
            <a:srgbClr val="2D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TradeBridge 2.0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solidFill>
                  <a:srgbClr val="A8C4E8"/>
                </a:solidFill>
              </a:rPr>
              <a:t>LLM-</a:t>
            </a:r>
            <a:r>
              <a:rPr sz="2000" b="0" i="0" dirty="0" err="1">
                <a:solidFill>
                  <a:srgbClr val="A8C4E8"/>
                </a:solidFill>
              </a:rPr>
              <a:t>basiertes</a:t>
            </a:r>
            <a:r>
              <a:rPr sz="2000" b="0" i="0" dirty="0">
                <a:solidFill>
                  <a:srgbClr val="A8C4E8"/>
                </a:solidFill>
              </a:rPr>
              <a:t> Multi-</a:t>
            </a:r>
            <a:r>
              <a:rPr sz="2000" b="0" i="0" dirty="0" err="1">
                <a:solidFill>
                  <a:srgbClr val="A8C4E8"/>
                </a:solidFill>
              </a:rPr>
              <a:t>Agenten</a:t>
            </a:r>
            <a:r>
              <a:rPr sz="2000" b="0" i="0" dirty="0">
                <a:solidFill>
                  <a:srgbClr val="A8C4E8"/>
                </a:solidFill>
              </a:rPr>
              <a:t>-System für B2B-Verhandlungen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88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0A8C8"/>
                </a:solidFill>
              </a:rPr>
              <a:t>Evaluation — Bachelorarbeit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090B0"/>
                </a:solidFill>
              </a:rPr>
              <a:t>Tarnbir Singh  ·  DHBW Mannheim / SAP SE  ·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77639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080A8"/>
                </a:solidFill>
              </a:rPr>
              <a:t>140 Verhandlungssitzungen  ·  14 Szenarien  ·  10 Läufe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65562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A8C8"/>
                </a:solidFill>
              </a:rPr>
              <a:t>TradeBridge 2.0  |  Bachelorarbeit  |  DHBW Mannheim / SAP SE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7079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Systemarchitektur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8C4E8"/>
                </a:solidFill>
              </a:rPr>
              <a:t>TradeBridge 2.0 — Überblick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2926080" cy="1737360"/>
          </a:xfrm>
          <a:prstGeom prst="rect">
            <a:avLst/>
          </a:prstGeom>
          <a:solidFill>
            <a:srgbClr val="2D4A8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Supplier
Agent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463040"/>
            <a:ext cx="2926080" cy="1737360"/>
          </a:xfrm>
          <a:prstGeom prst="rect">
            <a:avLst/>
          </a:prstGeom>
          <a:solidFill>
            <a:srgbClr val="1A233C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20116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63040"/>
            <a:ext cx="2926080" cy="1737360"/>
          </a:xfrm>
          <a:prstGeom prst="rect">
            <a:avLst/>
          </a:prstGeom>
          <a:solidFill>
            <a:srgbClr val="1E6B4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778240" y="20116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Retailer
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05740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←  Angebot / Gegenangebot  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205740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←  Angebot / Gegenangebot  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337560"/>
            <a:ext cx="2926080" cy="196596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488" y="3429000"/>
            <a:ext cx="2706624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44444"/>
                </a:solidFill>
              </a:defRPr>
            </a:pPr>
            <a:r>
              <a:rPr dirty="0"/>
              <a:t>  ·  LLM-Pipeline (4 </a:t>
            </a:r>
            <a:r>
              <a:rPr dirty="0" err="1"/>
              <a:t>Schritte</a:t>
            </a:r>
            <a:r>
              <a:rPr dirty="0"/>
              <a:t>)</a:t>
            </a:r>
            <a:endParaRPr lang="de-DE" dirty="0"/>
          </a:p>
          <a:p>
            <a:pPr>
              <a:defRPr sz="1100">
                <a:solidFill>
                  <a:srgbClr val="444444"/>
                </a:solidFill>
              </a:defRPr>
            </a:pPr>
            <a:r>
              <a:rPr lang="en-GB" dirty="0"/>
              <a:t>·    Opponent Model</a:t>
            </a:r>
          </a:p>
          <a:p>
            <a:pPr>
              <a:defRPr sz="1100">
                <a:solidFill>
                  <a:srgbClr val="444444"/>
                </a:solidFill>
              </a:defRPr>
            </a:pPr>
            <a:r>
              <a:rPr lang="en-GB" dirty="0"/>
              <a:t>  ·  BATNA-Guardrails</a:t>
            </a:r>
          </a:p>
          <a:p>
            <a:pPr>
              <a:defRPr sz="1100">
                <a:solidFill>
                  <a:srgbClr val="444444"/>
                </a:solidFill>
              </a:defRPr>
            </a:pPr>
            <a:r>
              <a:rPr lang="en-GB" dirty="0"/>
              <a:t>  ·  Walk-Away-Logik</a:t>
            </a:r>
            <a:endParaRPr dirty="0"/>
          </a:p>
          <a:p>
            <a:pPr>
              <a:defRPr sz="1100">
                <a:solidFill>
                  <a:srgbClr val="444444"/>
                </a:solidFill>
              </a:defRPr>
            </a:pPr>
            <a:r>
              <a:rPr dirty="0"/>
              <a:t>  ·  Constraint Validator</a:t>
            </a:r>
          </a:p>
          <a:p>
            <a:pPr>
              <a:defRPr sz="1100">
                <a:solidFill>
                  <a:srgbClr val="444444"/>
                </a:solidFill>
              </a:defRPr>
            </a:pPr>
            <a:r>
              <a:rPr dirty="0"/>
              <a:t>  ·  Retry-</a:t>
            </a:r>
            <a:r>
              <a:rPr dirty="0" err="1"/>
              <a:t>Mechanismus</a:t>
            </a:r>
            <a:r>
              <a:rPr dirty="0"/>
              <a:t> (max 3×)</a:t>
            </a:r>
          </a:p>
          <a:p>
            <a:pPr>
              <a:defRPr sz="1100">
                <a:solidFill>
                  <a:srgbClr val="444444"/>
                </a:solidFill>
              </a:defRPr>
            </a:pPr>
            <a:r>
              <a:rPr dirty="0"/>
              <a:t>  ·  </a:t>
            </a:r>
            <a:r>
              <a:rPr dirty="0" err="1"/>
              <a:t>raw_offer</a:t>
            </a:r>
            <a:r>
              <a:rPr dirty="0"/>
              <a:t> </a:t>
            </a:r>
            <a:r>
              <a:rPr dirty="0" err="1"/>
              <a:t>Persistenz</a:t>
            </a:r>
            <a:endParaRPr dirty="0"/>
          </a:p>
        </p:txBody>
      </p:sp>
      <p:sp>
        <p:nvSpPr>
          <p:cNvPr id="19" name="Rectangle 18"/>
          <p:cNvSpPr/>
          <p:nvPr/>
        </p:nvSpPr>
        <p:spPr>
          <a:xfrm>
            <a:off x="4572000" y="3337560"/>
            <a:ext cx="2926080" cy="196596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81728" y="3429000"/>
            <a:ext cx="270662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44444"/>
                </a:solidFill>
              </a:defRPr>
            </a:pPr>
            <a:r>
              <a:rPr dirty="0"/>
              <a:t>  ·  Session Management</a:t>
            </a:r>
          </a:p>
          <a:p>
            <a:pPr>
              <a:defRPr sz="1100">
                <a:solidFill>
                  <a:srgbClr val="444444"/>
                </a:solidFill>
              </a:defRPr>
            </a:pPr>
            <a:r>
              <a:rPr dirty="0"/>
              <a:t>  ·  ZOPA-</a:t>
            </a:r>
            <a:r>
              <a:rPr dirty="0" err="1"/>
              <a:t>Metadaten</a:t>
            </a:r>
            <a:endParaRPr dirty="0"/>
          </a:p>
          <a:p>
            <a:pPr>
              <a:defRPr sz="1100">
                <a:solidFill>
                  <a:srgbClr val="444444"/>
                </a:solidFill>
              </a:defRPr>
            </a:pPr>
            <a:r>
              <a:rPr dirty="0"/>
              <a:t>  ·  HITL-</a:t>
            </a:r>
            <a:r>
              <a:rPr dirty="0" err="1"/>
              <a:t>Eskalation</a:t>
            </a:r>
            <a:endParaRPr dirty="0"/>
          </a:p>
          <a:p>
            <a:pPr>
              <a:defRPr sz="1100">
                <a:solidFill>
                  <a:srgbClr val="444444"/>
                </a:solidFill>
              </a:defRPr>
            </a:pPr>
            <a:r>
              <a:rPr dirty="0"/>
              <a:t>  ·  </a:t>
            </a:r>
            <a:r>
              <a:rPr dirty="0" err="1"/>
              <a:t>Evaluationsmodul</a:t>
            </a:r>
            <a:endParaRPr dirty="0"/>
          </a:p>
        </p:txBody>
      </p:sp>
      <p:sp>
        <p:nvSpPr>
          <p:cNvPr id="21" name="Rectangle 20"/>
          <p:cNvSpPr/>
          <p:nvPr/>
        </p:nvSpPr>
        <p:spPr>
          <a:xfrm>
            <a:off x="8686800" y="3337560"/>
            <a:ext cx="2926080" cy="196596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96528" y="3429000"/>
            <a:ext cx="270662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44444"/>
                </a:solidFill>
              </a:defRPr>
            </a:pPr>
            <a:r>
              <a:rPr dirty="0"/>
              <a:t>  ·  LLM-Pipeline (4 </a:t>
            </a:r>
            <a:r>
              <a:rPr dirty="0" err="1"/>
              <a:t>Schritte</a:t>
            </a:r>
            <a:r>
              <a:rPr dirty="0"/>
              <a:t>)</a:t>
            </a:r>
          </a:p>
          <a:p>
            <a:pPr>
              <a:defRPr sz="1100">
                <a:solidFill>
                  <a:srgbClr val="444444"/>
                </a:solidFill>
              </a:defRPr>
            </a:pPr>
            <a:r>
              <a:rPr dirty="0"/>
              <a:t>  ·  Opponent Model</a:t>
            </a:r>
          </a:p>
          <a:p>
            <a:pPr>
              <a:defRPr sz="1100">
                <a:solidFill>
                  <a:srgbClr val="444444"/>
                </a:solidFill>
              </a:defRPr>
            </a:pPr>
            <a:r>
              <a:rPr dirty="0"/>
              <a:t>  ·  BATNA-Guardrails</a:t>
            </a:r>
          </a:p>
          <a:p>
            <a:pPr>
              <a:defRPr sz="1100">
                <a:solidFill>
                  <a:srgbClr val="444444"/>
                </a:solidFill>
              </a:defRPr>
            </a:pPr>
            <a:r>
              <a:rPr dirty="0"/>
              <a:t>  ·  Walk-Away-Logik</a:t>
            </a:r>
            <a:endParaRPr lang="de-DE" dirty="0"/>
          </a:p>
          <a:p>
            <a:pPr>
              <a:defRPr sz="1100">
                <a:solidFill>
                  <a:srgbClr val="444444"/>
                </a:solidFill>
              </a:defRPr>
            </a:pPr>
            <a:r>
              <a:rPr lang="en-GB" dirty="0"/>
              <a:t>·    Constraint Validator</a:t>
            </a:r>
          </a:p>
          <a:p>
            <a:pPr>
              <a:defRPr sz="1100">
                <a:solidFill>
                  <a:srgbClr val="444444"/>
                </a:solidFill>
              </a:defRPr>
            </a:pPr>
            <a:r>
              <a:rPr lang="en-GB" dirty="0"/>
              <a:t>  ·  Retry-</a:t>
            </a:r>
            <a:r>
              <a:rPr lang="en-GB" dirty="0" err="1"/>
              <a:t>Mechanismus</a:t>
            </a:r>
            <a:r>
              <a:rPr lang="en-GB" dirty="0"/>
              <a:t> (max 3×)</a:t>
            </a:r>
          </a:p>
          <a:p>
            <a:pPr>
              <a:defRPr sz="1100">
                <a:solidFill>
                  <a:srgbClr val="444444"/>
                </a:solidFill>
              </a:defRPr>
            </a:pPr>
            <a:r>
              <a:rPr lang="en-GB" dirty="0"/>
              <a:t>  ·  </a:t>
            </a:r>
            <a:r>
              <a:rPr lang="en-GB" dirty="0" err="1"/>
              <a:t>raw_offer</a:t>
            </a:r>
            <a:r>
              <a:rPr lang="en-GB" dirty="0"/>
              <a:t> </a:t>
            </a:r>
            <a:r>
              <a:rPr lang="en-GB" dirty="0" err="1"/>
              <a:t>Persistenz</a:t>
            </a:r>
            <a:endParaRPr lang="en-GB" dirty="0"/>
          </a:p>
          <a:p>
            <a:pPr>
              <a:defRPr sz="1100">
                <a:solidFill>
                  <a:srgbClr val="444444"/>
                </a:solidFill>
              </a:defRPr>
            </a:pPr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2743200" y="5486400"/>
            <a:ext cx="6675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200" b="0" i="1" dirty="0">
                <a:solidFill>
                  <a:srgbClr val="2D4A8A"/>
                </a:solidFill>
              </a:rPr>
              <a:t>GPT-4o	  </a:t>
            </a:r>
            <a:r>
              <a:rPr sz="1200" b="0" i="1" dirty="0">
                <a:solidFill>
                  <a:srgbClr val="2D4A8A"/>
                </a:solidFill>
              </a:rPr>
              <a:t>·  Temperature = 0  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74320" y="65562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A8C8"/>
                </a:solidFill>
              </a:rPr>
              <a:t>TradeBridge 2.0  |  Bachelorarbeit  |  DHBW Mannheim / SAP SE  | 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Evaluationsdesign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8C4E8"/>
                </a:solidFill>
              </a:rPr>
              <a:t>Hybrid: quantitativ + qualitativ — 140 Sitzungen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5303520" cy="484632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4A8A"/>
                </a:solidFill>
              </a:rPr>
              <a:t>Aufbau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2024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>
                <a:solidFill>
                  <a:srgbClr val="1A233C"/>
                </a:solidFill>
              </a:rPr>
              <a:t>▸  14 </a:t>
            </a:r>
            <a:r>
              <a:rPr sz="1200" b="1" dirty="0" err="1">
                <a:solidFill>
                  <a:srgbClr val="1A233C"/>
                </a:solidFill>
              </a:rPr>
              <a:t>Szenarien</a:t>
            </a:r>
            <a:endParaRPr sz="1200" b="1" dirty="0">
              <a:solidFill>
                <a:srgbClr val="1A233C"/>
              </a:solidFill>
            </a:endParaRPr>
          </a:p>
          <a:p>
            <a:r>
              <a:rPr sz="1100" i="1" dirty="0">
                <a:solidFill>
                  <a:srgbClr val="444444"/>
                </a:solidFill>
              </a:rPr>
              <a:t>    Wide / Narrow / No-ZOPA, Near-Miss, </a:t>
            </a:r>
            <a:r>
              <a:rPr sz="1100" i="1" dirty="0" err="1">
                <a:solidFill>
                  <a:srgbClr val="444444"/>
                </a:solidFill>
              </a:rPr>
              <a:t>Asymmetrisch</a:t>
            </a:r>
            <a:r>
              <a:rPr sz="1100" i="1" dirty="0">
                <a:solidFill>
                  <a:srgbClr val="444444"/>
                </a:solidFill>
              </a:rPr>
              <a:t>, Volume-Leverage</a:t>
            </a:r>
          </a:p>
          <a:p>
            <a:endParaRPr sz="1100" i="1" dirty="0">
              <a:solidFill>
                <a:srgbClr val="444444"/>
              </a:solidFill>
            </a:endParaRPr>
          </a:p>
          <a:p>
            <a:r>
              <a:rPr sz="1200" b="1" dirty="0">
                <a:solidFill>
                  <a:srgbClr val="1A233C"/>
                </a:solidFill>
              </a:rPr>
              <a:t>▸  10 </a:t>
            </a:r>
            <a:r>
              <a:rPr sz="1200" b="1" dirty="0" err="1">
                <a:solidFill>
                  <a:srgbClr val="1A233C"/>
                </a:solidFill>
              </a:rPr>
              <a:t>Läufe</a:t>
            </a:r>
            <a:r>
              <a:rPr sz="1200" b="1" dirty="0">
                <a:solidFill>
                  <a:srgbClr val="1A233C"/>
                </a:solidFill>
              </a:rPr>
              <a:t> je </a:t>
            </a:r>
            <a:r>
              <a:rPr sz="1200" b="1" dirty="0" err="1">
                <a:solidFill>
                  <a:srgbClr val="1A233C"/>
                </a:solidFill>
              </a:rPr>
              <a:t>Szenario</a:t>
            </a:r>
            <a:endParaRPr sz="1200" b="1" dirty="0">
              <a:solidFill>
                <a:srgbClr val="1A233C"/>
              </a:solidFill>
            </a:endParaRPr>
          </a:p>
          <a:p>
            <a:r>
              <a:rPr sz="1100" i="1" dirty="0">
                <a:solidFill>
                  <a:srgbClr val="444444"/>
                </a:solidFill>
              </a:rPr>
              <a:t>    N = 140 </a:t>
            </a:r>
            <a:r>
              <a:rPr sz="1100" i="1" dirty="0" err="1">
                <a:solidFill>
                  <a:srgbClr val="444444"/>
                </a:solidFill>
              </a:rPr>
              <a:t>Verhandlungssitzungen</a:t>
            </a:r>
            <a:r>
              <a:rPr sz="1100" i="1" dirty="0">
                <a:solidFill>
                  <a:srgbClr val="444444"/>
                </a:solidFill>
              </a:rPr>
              <a:t>, ca. 1.300 </a:t>
            </a:r>
            <a:r>
              <a:rPr sz="1100" i="1" dirty="0" err="1">
                <a:solidFill>
                  <a:srgbClr val="444444"/>
                </a:solidFill>
              </a:rPr>
              <a:t>Runden</a:t>
            </a:r>
            <a:endParaRPr sz="1100" i="1" dirty="0">
              <a:solidFill>
                <a:srgbClr val="444444"/>
              </a:solidFill>
            </a:endParaRPr>
          </a:p>
          <a:p>
            <a:endParaRPr sz="1100" i="1" dirty="0">
              <a:solidFill>
                <a:srgbClr val="444444"/>
              </a:solidFill>
            </a:endParaRPr>
          </a:p>
          <a:p>
            <a:r>
              <a:rPr sz="1200" b="1" dirty="0">
                <a:solidFill>
                  <a:srgbClr val="1A233C"/>
                </a:solidFill>
              </a:rPr>
              <a:t>▸  </a:t>
            </a:r>
            <a:r>
              <a:rPr sz="1200" b="1" dirty="0" err="1">
                <a:solidFill>
                  <a:srgbClr val="1A233C"/>
                </a:solidFill>
              </a:rPr>
              <a:t>Fixierte</a:t>
            </a:r>
            <a:r>
              <a:rPr sz="1200" b="1" dirty="0">
                <a:solidFill>
                  <a:srgbClr val="1A233C"/>
                </a:solidFill>
              </a:rPr>
              <a:t> Parameter</a:t>
            </a:r>
          </a:p>
          <a:p>
            <a:r>
              <a:rPr sz="1100" i="1" dirty="0">
                <a:solidFill>
                  <a:srgbClr val="444444"/>
                </a:solidFill>
              </a:rPr>
              <a:t>    Temperature = 0, </a:t>
            </a:r>
            <a:r>
              <a:rPr sz="1100" i="1" dirty="0" err="1">
                <a:solidFill>
                  <a:srgbClr val="444444"/>
                </a:solidFill>
              </a:rPr>
              <a:t>deterministische</a:t>
            </a:r>
            <a:r>
              <a:rPr sz="1100" i="1" dirty="0">
                <a:solidFill>
                  <a:srgbClr val="444444"/>
                </a:solidFill>
              </a:rPr>
              <a:t> </a:t>
            </a:r>
            <a:r>
              <a:rPr sz="1100" i="1" dirty="0" err="1">
                <a:solidFill>
                  <a:srgbClr val="444444"/>
                </a:solidFill>
              </a:rPr>
              <a:t>Agentenpersönlichkeiten</a:t>
            </a:r>
            <a:endParaRPr sz="1100" i="1" dirty="0">
              <a:solidFill>
                <a:srgbClr val="444444"/>
              </a:solidFill>
            </a:endParaRPr>
          </a:p>
          <a:p>
            <a:endParaRPr sz="1100" i="1" dirty="0">
              <a:solidFill>
                <a:srgbClr val="444444"/>
              </a:solidFill>
            </a:endParaRPr>
          </a:p>
          <a:p>
            <a:r>
              <a:rPr sz="1200" b="1" dirty="0">
                <a:solidFill>
                  <a:srgbClr val="1A233C"/>
                </a:solidFill>
              </a:rPr>
              <a:t>▸  Multi-Run-</a:t>
            </a:r>
            <a:r>
              <a:rPr sz="1200" b="1" dirty="0" err="1">
                <a:solidFill>
                  <a:srgbClr val="1A233C"/>
                </a:solidFill>
              </a:rPr>
              <a:t>Statistik</a:t>
            </a:r>
            <a:endParaRPr sz="1200" b="1" dirty="0">
              <a:solidFill>
                <a:srgbClr val="1A233C"/>
              </a:solidFill>
            </a:endParaRPr>
          </a:p>
          <a:p>
            <a:r>
              <a:rPr sz="1100" i="1" dirty="0">
                <a:solidFill>
                  <a:srgbClr val="444444"/>
                </a:solidFill>
              </a:rPr>
              <a:t>    Mittelwert ± </a:t>
            </a:r>
            <a:r>
              <a:rPr sz="1100" i="1" dirty="0" err="1">
                <a:solidFill>
                  <a:srgbClr val="444444"/>
                </a:solidFill>
              </a:rPr>
              <a:t>Standardabweichung</a:t>
            </a:r>
            <a:r>
              <a:rPr sz="1100" i="1" dirty="0">
                <a:solidFill>
                  <a:srgbClr val="444444"/>
                </a:solidFill>
              </a:rPr>
              <a:t> pro KPI</a:t>
            </a:r>
          </a:p>
          <a:p>
            <a:endParaRPr sz="1100" i="1" dirty="0">
              <a:solidFill>
                <a:srgbClr val="444444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943600" y="1371600"/>
            <a:ext cx="5943600" cy="484632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8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4A8A"/>
                </a:solidFill>
              </a:rPr>
              <a:t>Vier KPIs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965960"/>
            <a:ext cx="5669280" cy="868680"/>
          </a:xfrm>
          <a:prstGeom prst="rect">
            <a:avLst/>
          </a:prstGeom>
          <a:solidFill>
            <a:srgbClr val="D6E4F7"/>
          </a:solidFill>
          <a:ln w="2540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72200" y="2020824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8648"/>
                </a:solidFill>
              </a:rPr>
              <a:t>CSR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203911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C"/>
                </a:solidFill>
              </a:rPr>
              <a:t>Constraint Satisfaction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240487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Hält der Agent seine Preislimits ein?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3017520"/>
            <a:ext cx="5669280" cy="868680"/>
          </a:xfrm>
          <a:prstGeom prst="rect">
            <a:avLst/>
          </a:prstGeom>
          <a:solidFill>
            <a:srgbClr val="D6E4F7"/>
          </a:solidFill>
          <a:ln w="25400">
            <a:solidFill>
              <a:srgbClr val="2D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72200" y="3072384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2D4A8A"/>
                </a:solidFill>
              </a:rPr>
              <a:t>WAA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309067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C"/>
                </a:solidFill>
              </a:rPr>
              <a:t>Walk-Away Accuracy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345643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Entscheidet er korrekt: Deal oder Abbruch?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4069079"/>
            <a:ext cx="5669280" cy="868680"/>
          </a:xfrm>
          <a:prstGeom prst="rect">
            <a:avLst/>
          </a:prstGeom>
          <a:solidFill>
            <a:srgbClr val="D6E4F7"/>
          </a:solidFill>
          <a:ln w="25400">
            <a:solidFill>
              <a:srgbClr val="D47E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72200" y="4123943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47E0F"/>
                </a:solidFill>
              </a:rPr>
              <a:t>ZU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4142231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C"/>
                </a:solidFill>
              </a:rPr>
              <a:t>ZOPA Utilization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450799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Wo landet die Einigung im Korridor?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5120640"/>
            <a:ext cx="5669280" cy="868680"/>
          </a:xfrm>
          <a:prstGeom prst="rect">
            <a:avLst/>
          </a:prstGeom>
          <a:solidFill>
            <a:srgbClr val="D6E4F7"/>
          </a:solidFill>
          <a:ln w="254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72200" y="5175503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A1B9A"/>
                </a:solidFill>
              </a:rPr>
              <a:t>BP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519379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C"/>
                </a:solidFill>
              </a:rPr>
              <a:t>Business Plausibility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555955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Klingt es wie echte B2B-Verhandlung?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74320" y="65562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A8C8"/>
                </a:solidFill>
              </a:rPr>
              <a:t>TradeBridge 2.0  |  Bachelorarbeit  |  DHBW Mannheim / SAP SE  | 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CSR — Constraint Satisfaction 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8C4E8"/>
                </a:solidFill>
              </a:rPr>
              <a:t>Hält das System seine Preis- und Mengengrenzen aus eigener Kraft ein?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3474720" cy="1828800"/>
          </a:xfrm>
          <a:prstGeom prst="rect">
            <a:avLst/>
          </a:prstGeom>
          <a:solidFill>
            <a:srgbClr val="1A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50876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2E8648"/>
                </a:solidFill>
              </a:rPr>
              <a:t>98,4 %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4231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8C4E8"/>
                </a:solidFill>
              </a:rPr>
              <a:t>± 1,6 %  ·  Ø über 10 Läufe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78892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8648"/>
                </a:solidFill>
              </a:rPr>
              <a:t>✓  Kriterium ≥ 95 % erfüllt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1463040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D4A8A"/>
                </a:solidFill>
              </a:rPr>
              <a:t>Was bedeutet das?</a:t>
            </a:r>
          </a:p>
          <a:p>
            <a:r>
              <a:rPr sz="1100">
                <a:solidFill>
                  <a:srgbClr val="444444"/>
                </a:solidFill>
              </a:rPr>
              <a:t>  ·  In 19 von 20 Runden hält das LLM die Constraints ohne Korrektursystem ein.</a:t>
            </a:r>
          </a:p>
          <a:p>
            <a:r>
              <a:rPr sz="1100">
                <a:solidFill>
                  <a:srgbClr val="444444"/>
                </a:solidFill>
              </a:rPr>
              <a:t>  ·  Gemessen ausschließlich auf raw_offer — dem unkorrigierten ersten LLM-Output.</a:t>
            </a:r>
          </a:p>
          <a:p>
            <a:r>
              <a:rPr sz="1100">
                <a:solidFill>
                  <a:srgbClr val="444444"/>
                </a:solidFill>
              </a:rPr>
              <a:t>  ·  Keine einzige Preis-Constraint-Verletzung in 140 Sitzungen.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333303"/>
            <a:ext cx="11521440" cy="283464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397311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4A8A"/>
                </a:solidFill>
              </a:rPr>
              <a:t>CSR pro Szenario (Mittelwert, alle 10 Läufe)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790503"/>
            <a:ext cx="640080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S01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57400" y="3790503"/>
            <a:ext cx="8558784" cy="150876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661904" y="3790503"/>
            <a:ext cx="64008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0.975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968811"/>
            <a:ext cx="640080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S02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57400" y="3968811"/>
            <a:ext cx="8339327" cy="150876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442448" y="3968811"/>
            <a:ext cx="64008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0.950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147119"/>
            <a:ext cx="640080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S03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57400" y="4147119"/>
            <a:ext cx="8049646" cy="150876"/>
          </a:xfrm>
          <a:prstGeom prst="rect">
            <a:avLst/>
          </a:prstGeom>
          <a:solidFill>
            <a:srgbClr val="D47E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152766" y="4147119"/>
            <a:ext cx="64008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0.917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325427"/>
            <a:ext cx="640080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S04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57400" y="4325427"/>
            <a:ext cx="8778240" cy="150876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881360" y="4325427"/>
            <a:ext cx="64008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1.000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4503735"/>
            <a:ext cx="640080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S05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57400" y="4503735"/>
            <a:ext cx="8778240" cy="150876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881360" y="4503735"/>
            <a:ext cx="64008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1.000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4682043"/>
            <a:ext cx="640080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S06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57400" y="4682043"/>
            <a:ext cx="8778240" cy="150876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881360" y="4682043"/>
            <a:ext cx="64008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1.000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4860351"/>
            <a:ext cx="640080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S07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57400" y="4860351"/>
            <a:ext cx="8778240" cy="150876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881360" y="4860351"/>
            <a:ext cx="64008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1.000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5038659"/>
            <a:ext cx="640080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S08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57400" y="5038659"/>
            <a:ext cx="8778240" cy="150876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881360" y="5038659"/>
            <a:ext cx="64008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1.000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5216967"/>
            <a:ext cx="640080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S09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57400" y="5216967"/>
            <a:ext cx="8778240" cy="150876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881360" y="5216967"/>
            <a:ext cx="64008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1.000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" y="5395275"/>
            <a:ext cx="640080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S10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057400" y="5395275"/>
            <a:ext cx="8778240" cy="150876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881360" y="5395275"/>
            <a:ext cx="64008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1.000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5573583"/>
            <a:ext cx="640080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S11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57400" y="5573583"/>
            <a:ext cx="8304215" cy="150876"/>
          </a:xfrm>
          <a:prstGeom prst="rect">
            <a:avLst/>
          </a:prstGeom>
          <a:solidFill>
            <a:srgbClr val="D47E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407335" y="5573583"/>
            <a:ext cx="64008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0.946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" y="5751891"/>
            <a:ext cx="640080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S12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57400" y="5751891"/>
            <a:ext cx="8672901" cy="150876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776021" y="5751891"/>
            <a:ext cx="64008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0.988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" y="5930199"/>
            <a:ext cx="640080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S13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057400" y="5930199"/>
            <a:ext cx="8778240" cy="150876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881360" y="5930199"/>
            <a:ext cx="64008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1.000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1480" y="6108507"/>
            <a:ext cx="640080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S14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057400" y="6108507"/>
            <a:ext cx="8778240" cy="150876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881360" y="6108507"/>
            <a:ext cx="64008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1.000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396728" y="3744783"/>
            <a:ext cx="18288" cy="25146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259567" y="3607623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0392B"/>
                </a:solidFill>
              </a:rPr>
              <a:t>95 %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74320" y="65562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A8C8"/>
                </a:solidFill>
              </a:rPr>
              <a:t>TradeBridge 2.0  |  Bachelorarbeit  |  DHBW Mannheim / SAP SE  | 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WAA — Walk-Away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8C4E8"/>
                </a:solidFill>
              </a:rPr>
              <a:t>Trifft das System die richtige Deal/Abbruch-Entscheidung?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5394960" cy="283464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48132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4A8A"/>
                </a:solidFill>
              </a:rPr>
              <a:t>Konfusionsmatrix (120 klassifizierte Sitzungen, N=10 Läufe)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9202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233C"/>
                </a:solidFill>
              </a:rPr>
              <a:t>ZOPA vorhanden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920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233C"/>
                </a:solidFill>
              </a:rPr>
              <a:t>Keine ZOPA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A233C"/>
                </a:solidFill>
              </a:rPr>
              <a:t>Deal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175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A233C"/>
                </a:solidFill>
              </a:rPr>
              <a:t>Abbruch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20240" y="2286000"/>
            <a:ext cx="1737360" cy="59436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65960" y="23774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TP = 70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0" y="2286000"/>
            <a:ext cx="1737360" cy="59436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86200" y="23774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FP = 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20240" y="2926080"/>
            <a:ext cx="1737360" cy="594360"/>
          </a:xfrm>
          <a:prstGeom prst="rect">
            <a:avLst/>
          </a:prstGeom>
          <a:solidFill>
            <a:srgbClr val="D47E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965960" y="30175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FN = 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0" y="2926080"/>
            <a:ext cx="1737360" cy="59436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86200" y="30175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TN = 40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1444752"/>
            <a:ext cx="2834640" cy="1234440"/>
          </a:xfrm>
          <a:prstGeom prst="rect">
            <a:avLst/>
          </a:prstGeom>
          <a:solidFill>
            <a:srgbClr val="1A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35040" y="1536192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2E8648"/>
                </a:solidFill>
              </a:rPr>
              <a:t>F₁ = 0,933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2157984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8C4E8"/>
                </a:solidFill>
              </a:rPr>
              <a:t>≥ 0,90  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06840" y="1444752"/>
            <a:ext cx="2834640" cy="1234440"/>
          </a:xfrm>
          <a:prstGeom prst="rect">
            <a:avLst/>
          </a:prstGeom>
          <a:solidFill>
            <a:srgbClr val="1A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98280" y="1536192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2E8648"/>
                </a:solidFill>
              </a:rPr>
              <a:t>FAR = 0,000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2157984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8C4E8"/>
                </a:solidFill>
              </a:rPr>
              <a:t>= 0,0   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2907792"/>
            <a:ext cx="2834640" cy="1234440"/>
          </a:xfrm>
          <a:prstGeom prst="rect">
            <a:avLst/>
          </a:prstGeom>
          <a:solidFill>
            <a:srgbClr val="1A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035040" y="2999232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2E8648"/>
                </a:solidFill>
              </a:rPr>
              <a:t>FWR = 0,125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3621024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8C4E8"/>
                </a:solidFill>
              </a:rPr>
              <a:t>≤ 0,25  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06840" y="2907792"/>
            <a:ext cx="2834640" cy="1234440"/>
          </a:xfrm>
          <a:prstGeom prst="rect">
            <a:avLst/>
          </a:prstGeom>
          <a:solidFill>
            <a:srgbClr val="1A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098280" y="2999232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2E8648"/>
                </a:solidFill>
              </a:rPr>
              <a:t>Precision = 1,000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3621024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8C4E8"/>
                </a:solidFill>
              </a:rPr>
              <a:t>kein BATNA-Fehler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343400"/>
            <a:ext cx="548640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44348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648"/>
                </a:solidFill>
              </a:rPr>
              <a:t>✓  Kein einziger BATNA-verletzender Deal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84632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FAR = 0,0 über alle 140 Sitzungen — in keinem der
No-ZOPA-Szenarien (S07–S10) wurde ein Deal abgeschlossen.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559552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Asymmetrische Fehlerlogik:
FP (BATNA-Verletzung) = absolut inakzeptabel
FN (verlorener Deal)  = tolerierbar für PoC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4343400"/>
            <a:ext cx="594360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D47E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80760" y="44348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7E0F"/>
                </a:solidFill>
              </a:rPr>
              <a:t>⚠  10 FN-Fälle — verlorene Deals bei vorhandener ZOPA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48463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S04 (2×), S05 (3×), S06 (4×), S13 Lauf 8 (1×)
9× max_rounds_reached  ·  1× autonomer Walk-Away (S06 Lauf 8)
Ursache: enges ZOPA-Fenster + inkonsistentes Ankerverhalten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80760" y="56692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Run-Level: Ø F₁ = 0,896 ± 0,082 — einzelne Läufe unter Schwellenwert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74320" y="65562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A8C8"/>
                </a:solidFill>
              </a:rPr>
              <a:t>TradeBridge 2.0  |  Bachelorarbeit  |  DHBW Mannheim / SAP SE  | 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ZU — ZOPA Utilization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8C4E8"/>
                </a:solidFill>
              </a:rPr>
              <a:t>Wo landet die Einigung im Verhandlungskorridor?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5029200" cy="1097280"/>
          </a:xfrm>
          <a:prstGeom prst="rect">
            <a:avLst/>
          </a:prstGeom>
          <a:solidFill>
            <a:srgbClr val="1A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53619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ZU = (Retailer-Max − Einigungspreis) ÷ (Retailer-Max − Supplier-Min)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4E8"/>
                </a:solidFill>
              </a:rPr>
              <a:t>0,0 = Supplier gewinnt alles  ·  0,5 = Mitte  ·  1,0 = Retailer gewinnt alles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577840" y="1417320"/>
            <a:ext cx="6263640" cy="1097280"/>
          </a:xfrm>
          <a:prstGeom prst="rect">
            <a:avLst/>
          </a:prstGeom>
          <a:solidFill>
            <a:srgbClr val="1A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15000" y="14630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C4E8"/>
                </a:solidFill>
              </a:rPr>
              <a:t>Gesamt-ZU über 83 Einigungen: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173736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47E0F"/>
                </a:solidFill>
              </a:rPr>
              <a:t>0,303 ± 0,043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17830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47E0F"/>
                </a:solidFill>
              </a:rPr>
              <a:t>→ Supplier-dominant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697480"/>
            <a:ext cx="1152144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27432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0,0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7432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0,40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7432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0,60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0" y="27432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1,0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788920"/>
            <a:ext cx="5120640" cy="320040"/>
          </a:xfrm>
          <a:prstGeom prst="rect">
            <a:avLst/>
          </a:prstGeom>
          <a:solidFill>
            <a:srgbClr val="FF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28072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Supplier-dominant  &lt; 0,40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720" y="2788920"/>
            <a:ext cx="2560320" cy="32004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0" y="280720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Ausgeglichen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2788920"/>
            <a:ext cx="3520440" cy="32004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80" y="28072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Retailer-dominant  &gt; 0,60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132" y="2633472"/>
            <a:ext cx="36576" cy="594360"/>
          </a:xfrm>
          <a:prstGeom prst="rect">
            <a:avLst/>
          </a:prstGeom>
          <a:solidFill>
            <a:srgbClr val="C0392B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991996" y="265176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0392B"/>
                </a:solidFill>
              </a:rPr>
              <a:t>Ø 0,303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291840"/>
            <a:ext cx="11521440" cy="292608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335584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4A8A"/>
                </a:solidFill>
              </a:rPr>
              <a:t>ZU pro Szenario (nur Sitzungen mit Einigung, N = 83)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749039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S01 Wide ZOPA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0" y="3767327"/>
            <a:ext cx="1161470" cy="182880"/>
          </a:xfrm>
          <a:prstGeom prst="rect">
            <a:avLst/>
          </a:prstGeom>
          <a:solidFill>
            <a:srgbClr val="D47E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950390" y="3749039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0.219 ± 0.150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986783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S02 Wide ZOPA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0" y="4005071"/>
            <a:ext cx="848563" cy="182880"/>
          </a:xfrm>
          <a:prstGeom prst="rect">
            <a:avLst/>
          </a:prstGeom>
          <a:solidFill>
            <a:srgbClr val="D47E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37483" y="3986783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0.160 ± 0.107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224527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S03 Wide ZOPA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0" y="4242815"/>
            <a:ext cx="1654698" cy="182880"/>
          </a:xfrm>
          <a:prstGeom prst="rect">
            <a:avLst/>
          </a:prstGeom>
          <a:solidFill>
            <a:srgbClr val="D47E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443618" y="4224527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0.312 ± 0.241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462272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S04 Narrow ZOPA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0" y="4480559"/>
            <a:ext cx="498530" cy="182880"/>
          </a:xfrm>
          <a:prstGeom prst="rect">
            <a:avLst/>
          </a:prstGeom>
          <a:solidFill>
            <a:srgbClr val="D47E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287450" y="446227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0.094 ± 0.157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4700016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S05 Narrow ZOPA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0" y="4718303"/>
            <a:ext cx="1516806" cy="182880"/>
          </a:xfrm>
          <a:prstGeom prst="rect">
            <a:avLst/>
          </a:prstGeom>
          <a:solidFill>
            <a:srgbClr val="D47E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305726" y="470001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0.286 ± 0.488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4937759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S06 Narrow ZOPA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0" y="4956047"/>
            <a:ext cx="970544" cy="182880"/>
          </a:xfrm>
          <a:prstGeom prst="rect">
            <a:avLst/>
          </a:prstGeom>
          <a:solidFill>
            <a:srgbClr val="D47E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759464" y="4937759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0.183 ± 0.402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5175504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S11 Asymmetrisch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0" y="5193792"/>
            <a:ext cx="1553931" cy="182880"/>
          </a:xfrm>
          <a:prstGeom prst="rect">
            <a:avLst/>
          </a:prstGeom>
          <a:solidFill>
            <a:srgbClr val="D47E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342851" y="517550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0.293 ± 0.162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5413248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S12 Asymmetrisch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0" y="5431536"/>
            <a:ext cx="1479682" cy="182880"/>
          </a:xfrm>
          <a:prstGeom prst="rect">
            <a:avLst/>
          </a:prstGeom>
          <a:solidFill>
            <a:srgbClr val="D47E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268602" y="541324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0.279 ± 0.303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5650992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S13 Volume Leverage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0" y="5669279"/>
            <a:ext cx="3277575" cy="182880"/>
          </a:xfrm>
          <a:prstGeom prst="rect">
            <a:avLst/>
          </a:prstGeom>
          <a:solidFill>
            <a:srgbClr val="2D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066495" y="565099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0.618 ± 0.176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55480" y="565099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8648"/>
                </a:solidFill>
              </a:rPr>
              <a:t>✓ Hebel wirkt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5888736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S14 Volume Leverage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0" y="5907023"/>
            <a:ext cx="2741919" cy="18288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530839" y="588873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0.517 ± 0.189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74320" y="65562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A8C8"/>
                </a:solidFill>
              </a:rPr>
              <a:t>TradeBridge 2.0  |  Bachelorarbeit  |  DHBW Mannheim / SAP SE  | 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BP — Business Plausibility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8C4E8"/>
                </a:solidFill>
              </a:rPr>
              <a:t>Human-as-a-Judge: 14 Szenarien, 140 Sitzungen, ~1.300 Runden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6400800" cy="1005840"/>
          </a:xfrm>
          <a:prstGeom prst="rect">
            <a:avLst/>
          </a:prstGeom>
          <a:solidFill>
            <a:srgbClr val="FFFFFF"/>
          </a:solidFill>
          <a:ln w="3175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1005840" cy="100584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627632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53619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3C"/>
                </a:solidFill>
              </a:rPr>
              <a:t>Hoch plausibel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659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S13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633472"/>
            <a:ext cx="6400800" cy="1005840"/>
          </a:xfrm>
          <a:prstGeom prst="rect">
            <a:avLst/>
          </a:prstGeom>
          <a:solidFill>
            <a:srgbClr val="FFFFFF"/>
          </a:solidFill>
          <a:ln w="31750">
            <a:solidFill>
              <a:srgbClr val="2D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" y="2633472"/>
            <a:ext cx="1005840" cy="1005840"/>
          </a:xfrm>
          <a:prstGeom prst="rect">
            <a:avLst/>
          </a:prstGeom>
          <a:solidFill>
            <a:srgbClr val="2D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2798064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706624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3C"/>
                </a:solidFill>
              </a:rPr>
              <a:t>Überwiegend plausibel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36391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S01 S02 S03 S04 S12 S14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803904"/>
            <a:ext cx="6400800" cy="1005840"/>
          </a:xfrm>
          <a:prstGeom prst="rect">
            <a:avLst/>
          </a:prstGeom>
          <a:solidFill>
            <a:srgbClr val="FFFFFF"/>
          </a:solidFill>
          <a:ln w="31750">
            <a:solidFill>
              <a:srgbClr val="D47E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0040" y="3803904"/>
            <a:ext cx="1005840" cy="1005840"/>
          </a:xfrm>
          <a:prstGeom prst="rect">
            <a:avLst/>
          </a:prstGeom>
          <a:solidFill>
            <a:srgbClr val="D47E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3968496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877056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3C"/>
                </a:solidFill>
              </a:rPr>
              <a:t>Eingeschränkt plausibel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30682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S05 S06 S07 S08 S09 S10 S11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974336"/>
            <a:ext cx="6400800" cy="1005840"/>
          </a:xfrm>
          <a:prstGeom prst="rect">
            <a:avLst/>
          </a:prstGeom>
          <a:solidFill>
            <a:srgbClr val="FFFFFF"/>
          </a:solidFill>
          <a:ln w="317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0040" y="4974336"/>
            <a:ext cx="1005840" cy="10058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80" y="5138927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504748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3C"/>
                </a:solidFill>
              </a:rPr>
              <a:t>Nicht plausibel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5477255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49440" y="1417320"/>
            <a:ext cx="4919472" cy="475488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086600" y="148132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4A8A"/>
                </a:solidFill>
              </a:rPr>
              <a:t>Zentrale Befunde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19202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8648"/>
                </a:solidFill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192024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C"/>
                </a:solidFill>
              </a:rPr>
              <a:t>Volume-Leverage funktioniert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2286000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Volumenhebel in allen 10 Läufen korrekt eingesetzt (S13). Konsistentestes Stärke-Muster im gesamten Test.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2779776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8648"/>
                </a:solidFill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2779776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C"/>
                </a:solidFill>
              </a:rPr>
              <a:t>Keine aggressiven Formulierungen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3145536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Deeskaltiver Grundton in 140/140 Sitzungen. Geeignet für automatisierten Geschäftsverkehr.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363931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47E0F"/>
                </a:solidFill>
              </a:rPr>
              <a:t>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3639312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C"/>
                </a:solidFill>
              </a:rPr>
              <a:t>Fehlende Walk-Away-Sprache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4005072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No-ZOPA-Szenarien: 15 Runden lang 'win-win'-Formulierungen ohne aktiven Abbruch.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4498848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47E0F"/>
                </a:solidFill>
              </a:rPr>
              <a:t>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6640" y="4498848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C"/>
                </a:solidFill>
              </a:rPr>
              <a:t>Generische Argumentation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06640" y="4864608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Kein Szenario referenziert Saisonalität, Wettbewerbspreise oder sortimentsspezifische Margen.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5358383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</a:rPr>
              <a:t>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06640" y="5358383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C"/>
                </a:solidFill>
              </a:rPr>
              <a:t>S11: kein Dimension-Shift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06640" y="5724144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MOQ-Konflikt (300 vs. 500 Einheiten) wird in keinem der 10 Läufe explizit benannt.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74320" y="65562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A8C8"/>
                </a:solidFill>
              </a:rPr>
              <a:t>TradeBridge 2.0  |  Bachelorarbeit  |  DHBW Mannheim / SAP SE  | 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Gesamturteil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14400"/>
            <a:ext cx="11521440" cy="45720"/>
          </a:xfrm>
          <a:prstGeom prst="rect">
            <a:avLst/>
          </a:prstGeom>
          <a:solidFill>
            <a:srgbClr val="2D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2212848" cy="2468880"/>
          </a:xfrm>
          <a:prstGeom prst="rect">
            <a:avLst/>
          </a:prstGeom>
          <a:solidFill>
            <a:srgbClr val="22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79" y="1143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8C4E8"/>
                </a:solidFill>
              </a:rPr>
              <a:t>CSR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627632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E8648"/>
                </a:solidFill>
              </a:rPr>
              <a:t>98,4 %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22402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0A0C0"/>
                </a:solidFill>
              </a:rPr>
              <a:t>± 1,6 %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5420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0A0C0"/>
                </a:solidFill>
              </a:rPr>
              <a:t>Kriterium ≥ 95 %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85292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8648"/>
                </a:solidFill>
              </a:rPr>
              <a:t>erfüllt 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24328" y="1051560"/>
            <a:ext cx="2212848" cy="2468880"/>
          </a:xfrm>
          <a:prstGeom prst="rect">
            <a:avLst/>
          </a:prstGeom>
          <a:solidFill>
            <a:srgbClr val="22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15768" y="1143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8C4E8"/>
                </a:solidFill>
              </a:rPr>
              <a:t>WAA
F₁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15768" y="1627632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E8648"/>
                </a:solidFill>
              </a:rPr>
              <a:t>0,933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15768" y="25420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0A0C0"/>
                </a:solidFill>
              </a:rPr>
              <a:t>Kriterium ≥ 0,90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5768" y="285292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8648"/>
                </a:solidFill>
              </a:rPr>
              <a:t>erfüllt 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28616" y="1051560"/>
            <a:ext cx="2212848" cy="2468880"/>
          </a:xfrm>
          <a:prstGeom prst="rect">
            <a:avLst/>
          </a:prstGeom>
          <a:solidFill>
            <a:srgbClr val="22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0055" y="1143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8C4E8"/>
                </a:solidFill>
              </a:rPr>
              <a:t>WAA
FAR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0055" y="1627632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E8648"/>
                </a:solidFill>
              </a:rPr>
              <a:t>0,000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0055" y="25420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0A0C0"/>
                </a:solidFill>
              </a:rPr>
              <a:t>hartes Kriterium = 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0055" y="285292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8648"/>
                </a:solidFill>
              </a:rPr>
              <a:t>erfüllt 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32904" y="1051560"/>
            <a:ext cx="2212848" cy="2468880"/>
          </a:xfrm>
          <a:prstGeom prst="rect">
            <a:avLst/>
          </a:prstGeom>
          <a:solidFill>
            <a:srgbClr val="22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24344" y="1143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8C4E8"/>
                </a:solidFill>
              </a:rPr>
              <a:t>ZU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24344" y="1627632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47E0F"/>
                </a:solidFill>
              </a:rPr>
              <a:t>0,303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24344" y="22402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0A0C0"/>
                </a:solidFill>
              </a:rPr>
              <a:t>± 0,043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24344" y="25420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0A0C0"/>
                </a:solidFill>
              </a:rPr>
              <a:t>diagnostisch (kein SW)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24344" y="285292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47E0F"/>
                </a:solidFill>
              </a:rPr>
              <a:t>Supplier-dominant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37192" y="1051560"/>
            <a:ext cx="2212848" cy="2468880"/>
          </a:xfrm>
          <a:prstGeom prst="rect">
            <a:avLst/>
          </a:prstGeom>
          <a:solidFill>
            <a:srgbClr val="22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28632" y="1143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8C4E8"/>
                </a:solidFill>
              </a:rPr>
              <a:t>BP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28632" y="1627632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D4A8A"/>
                </a:solidFill>
              </a:rPr>
              <a:t>8 / 14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28632" y="25420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0A0C0"/>
                </a:solidFill>
              </a:rPr>
              <a:t>überwiegend / hoch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28632" y="285292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D4A8A"/>
                </a:solidFill>
              </a:rPr>
              <a:t>positiv 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703320"/>
            <a:ext cx="11521440" cy="1417320"/>
          </a:xfrm>
          <a:prstGeom prst="rect">
            <a:avLst/>
          </a:prstGeom>
          <a:solidFill>
            <a:srgbClr val="22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2920" y="376732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8C4E8"/>
                </a:solidFill>
              </a:rPr>
              <a:t>Fazit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133087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Alle drei quantitativen Erfolgskriterien erfüllt. Das System schließt keinen einzigen BATNA-verletzenden Deal und erkennt No-ZOPA-Situationen zuverlässig. In 8 von 14 Szenarien ist das Verhandlungsverhalten kommunikativ plausibel.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70916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8C4E8"/>
                </a:solidFill>
              </a:rPr>
              <a:t>Die Forschungsfrage ist positiv zu beantworten: Ein LLM-basiertes Multi-Agenten-System kann standardisierte B2B-Verhandlungen guardrail-konform und kommunikativ plausibel führen.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5230368"/>
            <a:ext cx="11521440" cy="1298448"/>
          </a:xfrm>
          <a:prstGeom prst="rect">
            <a:avLst/>
          </a:prstGeom>
          <a:solidFill>
            <a:srgbClr val="1A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2920" y="52760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7E0F"/>
                </a:solidFill>
              </a:rPr>
              <a:t>Offene Punkte &amp; Ausblick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562356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1.  Aktive Walk-Away-Kommunikation implementieren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8795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2.  Dimension-Shift-Kompetenz für nicht-preisliche Konflikte (S11)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13562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3.  Preis-Text-Konsistenz sicherstellen (30,9 % Runden betroffen)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74320" y="65562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A8C8"/>
                </a:solidFill>
              </a:rPr>
              <a:t>TradeBridge 2.0  |  Bachelorarbeit  |  DHBW Mannheim / SAP SE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1024</Words>
  <Application>Microsoft Macintosh PowerPoint</Application>
  <PresentationFormat>Custom</PresentationFormat>
  <Paragraphs>228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Singh, Tarnbir</cp:lastModifiedBy>
  <cp:revision>2</cp:revision>
  <dcterms:created xsi:type="dcterms:W3CDTF">2013-01-27T09:14:16Z</dcterms:created>
  <dcterms:modified xsi:type="dcterms:W3CDTF">2026-04-27T12:54:20Z</dcterms:modified>
  <cp:category/>
</cp:coreProperties>
</file>